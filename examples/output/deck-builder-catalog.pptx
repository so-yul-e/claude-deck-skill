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3D52D5"/>
            </a:solidFill>
          </c:spPr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Chart</c:v>
                </c:pt>
                <c:pt idx="2">
                  <c:v>Font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8.0</c:v>
                </c:pt>
                <c:pt idx="2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41A5C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5E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C1C1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3D52D5"/>
            </a:solidFill>
          </c:spPr>
          <c:cat>
            <c:strRef>
              <c:f>Sheet1!$A$2:$A$4</c:f>
              <c:strCache>
                <c:ptCount val="3"/>
                <c:pt idx="0">
                  <c:v>Cards</c:v>
                </c:pt>
                <c:pt idx="1">
                  <c:v>Flow</c:v>
                </c:pt>
                <c:pt idx="2">
                  <c:v>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</c:v>
                </c:pt>
                <c:pt idx="1">
                  <c:v>6.0</c:v>
                </c:pt>
                <c:pt idx="2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41A5C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5E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C1C1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3D52D5"/>
              </a:solidFill>
            </c:spPr>
          </c:dPt>
          <c:dPt>
            <c:idx val="1"/>
            <c:spPr>
              <a:solidFill>
                <a:srgbClr val="7B68C8"/>
              </a:solidFill>
            </c:spPr>
          </c:dPt>
          <c:dPt>
            <c:idx val="2"/>
            <c:spPr>
              <a:solidFill>
                <a:srgbClr val="CED5F8"/>
              </a:solidFill>
            </c:spPr>
          </c:dPt>
          <c:cat>
            <c:strRef>
              <c:f>Sheet1!$A$2:$A$4</c:f>
              <c:strCache>
                <c:ptCount val="3"/>
                <c:pt idx="0">
                  <c:v>Planning 45</c:v>
                </c:pt>
                <c:pt idx="1">
                  <c:v>Status 35</c:v>
                </c:pt>
                <c:pt idx="2">
                  <c:v>Sales 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35.0</c:v>
                </c:pt>
                <c:pt idx="2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  <a:latin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400" b="0">
              <a:solidFill>
                <a:srgbClr val="1C1C1E"/>
              </a:solidFill>
              <a:latin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1C1C1E"/>
          </a:solidFill>
          <a:latin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48840"/>
            <a:ext cx="822960" cy="54864"/>
          </a:xfrm>
          <a:prstGeom prst="rect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FFFFFF"/>
                </a:solidFill>
                <a:latin typeface="Pretendard"/>
              </a:rPr>
              <a:t>Deck Builder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5876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CED5F8"/>
                </a:solidFill>
                <a:latin typeface="Pretendard"/>
              </a:rPr>
              <a:t>20 representative slide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ED5F8"/>
                </a:solidFill>
                <a:latin typeface="Pretendard"/>
              </a:rPr>
              <a:t>macOS stable · Windows 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B68C8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FFFFF"/>
                </a:solidFill>
                <a:latin typeface="Pretendard"/>
              </a:rPr>
              <a:t>Narrative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CED5F8"/>
                </a:solidFill>
                <a:latin typeface="Pretendard"/>
              </a:rPr>
              <a:t>Slides are selected by content relationship.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150"/>
            <a:ext cx="54864" cy="49530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24150"/>
            <a:ext cx="10225735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Pick the form before writing slide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38906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6E6E73"/>
                </a:solidFill>
                <a:latin typeface="Pretendard"/>
              </a:rPr>
              <a:t>The builder is a constraint system, not a decoration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Operating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6060"/>
            <a:ext cx="3375050" cy="233172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66060"/>
            <a:ext cx="3375050" cy="50292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040380"/>
            <a:ext cx="297271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387852"/>
            <a:ext cx="297271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5C"/>
                </a:solidFill>
                <a:latin typeface="Pretendard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155948"/>
            <a:ext cx="297271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Representative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8322" y="2766060"/>
            <a:ext cx="3375050" cy="233172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8322" y="2766060"/>
            <a:ext cx="3375050" cy="50292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3040380"/>
            <a:ext cx="297271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490" y="3387852"/>
            <a:ext cx="297271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5C"/>
                </a:solidFill>
                <a:latin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4155948"/>
            <a:ext cx="297271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Primary builder per slide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9404" y="2766060"/>
            <a:ext cx="3375050" cy="233172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9404" y="2766060"/>
            <a:ext cx="3375050" cy="50292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0572" y="3040380"/>
            <a:ext cx="297271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0572" y="3387852"/>
            <a:ext cx="297271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5C"/>
                </a:solidFill>
                <a:latin typeface="Pretendard"/>
              </a:rPr>
              <a:t>0.5x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0572" y="4155948"/>
            <a:ext cx="297271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Bullets stay rare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Fallback 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128016" cy="128016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2714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Use when no stronger content relationship exists.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128016" cy="128016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102714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Keep each item short.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94760"/>
            <a:ext cx="128016" cy="128016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03320"/>
            <a:ext cx="102714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Split slides before shrinking below readable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Release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57400"/>
          <a:ext cx="106372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3988955"/>
                <a:gridCol w="3988955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3D52D5"/>
                          </a:solidFill>
                          <a:latin typeface="Pretendard"/>
                        </a:rPr>
                        <a:t>Area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3D52D5"/>
                          </a:solidFill>
                          <a:latin typeface="Pretendard"/>
                        </a:rPr>
                        <a:t>macOS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00" b="1">
                          <a:solidFill>
                            <a:srgbClr val="3D52D5"/>
                          </a:solidFill>
                          <a:latin typeface="Pretendard"/>
                        </a:rPr>
                        <a:t>Windows beta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Generate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Verified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Verified in Windows CI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Polish</a:t>
                      </a:r>
                    </a:p>
                  </a:txBody>
                  <a:tcPr anchor="ctr" marL="109728" marR="109728" marT="73152" marB="73152">
                    <a:solidFill>
                      <a:srgbClr val="EFF1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Verified</a:t>
                      </a:r>
                    </a:p>
                  </a:txBody>
                  <a:tcPr anchor="ctr" marL="109728" marR="109728" marT="73152" marB="73152">
                    <a:solidFill>
                      <a:srgbClr val="EFF1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Script included; target QA pending</a:t>
                      </a:r>
                    </a:p>
                  </a:txBody>
                  <a:tcPr anchor="ctr" marL="109728" marR="109728" marT="73152" marB="73152">
                    <a:solidFill>
                      <a:srgbClr val="EFF1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Render QA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Verified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400" b="0">
                          <a:solidFill>
                            <a:srgbClr val="1C1C1E"/>
                          </a:solidFill>
                          <a:latin typeface="Pretendard"/>
                        </a:rPr>
                        <a:t>Adapter included; target QA pending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2513838"/>
            <a:ext cx="10637215" cy="1905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Format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795540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D52D5"/>
                </a:solidFill>
                <a:latin typeface="Pretendard"/>
              </a:rPr>
              <a:t>2-column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5660" y="2057400"/>
            <a:ext cx="7658794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Use deflist when the left column is only a label.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07080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07080"/>
            <a:ext cx="2795540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D52D5"/>
                </a:solidFill>
                <a:latin typeface="Pretendard"/>
              </a:rPr>
              <a:t>Donut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5660" y="3307080"/>
            <a:ext cx="7658794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Put the numeric value in the category label.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556760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56760"/>
            <a:ext cx="2795540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D52D5"/>
                </a:solidFill>
                <a:latin typeface="Pretendard"/>
              </a:rPr>
              <a:t>Fixed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660" y="4556760"/>
            <a:ext cx="7658794" cy="1249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Ask before redesigning externally mandated layouts.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Skill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12264"/>
            <a:ext cx="50292" cy="54864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93976"/>
            <a:ext cx="20658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deck/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59736"/>
            <a:ext cx="20658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Installable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17427" y="2148840"/>
            <a:ext cx="1045083" cy="384048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427" y="2148840"/>
            <a:ext cx="10450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SKILL.md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526" y="2148840"/>
            <a:ext cx="889508" cy="384048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0526" y="2148840"/>
            <a:ext cx="8895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scripts/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8050" y="2148840"/>
            <a:ext cx="873633" cy="384048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8050" y="2148840"/>
            <a:ext cx="87363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assets/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61944"/>
            <a:ext cx="50292" cy="54864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343656"/>
            <a:ext cx="20658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examples/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709416"/>
            <a:ext cx="20658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Smoke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427" y="3398520"/>
            <a:ext cx="1581658" cy="384048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427" y="3398520"/>
            <a:ext cx="15816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build_catalog.py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611624"/>
            <a:ext cx="50292" cy="54864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593336"/>
            <a:ext cx="20658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agents/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959096"/>
            <a:ext cx="20658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Codex routing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17427" y="4648200"/>
            <a:ext cx="1248283" cy="384048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7427" y="4648200"/>
            <a:ext cx="12482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openai.yaml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Deck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14700"/>
            <a:ext cx="2234107" cy="1234440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3419856"/>
            <a:ext cx="1978075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1. Preflight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950208"/>
            <a:ext cx="1978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Check OS deps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2787" y="374904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7B68C8"/>
                </a:solidFill>
                <a:latin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8275" y="3314700"/>
            <a:ext cx="2234107" cy="1234440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6291" y="3419856"/>
            <a:ext cx="1978075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6291" y="3950208"/>
            <a:ext cx="1978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New or existing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3823" y="374904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7B68C8"/>
                </a:solidFill>
                <a:latin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9311" y="3314700"/>
            <a:ext cx="2234107" cy="1234440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3419856"/>
            <a:ext cx="1978075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3.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950208"/>
            <a:ext cx="1978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Call one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4859" y="374904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7B68C8"/>
                </a:solidFill>
                <a:latin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347" y="3314700"/>
            <a:ext cx="2234107" cy="1234440"/>
          </a:xfrm>
          <a:prstGeom prst="roundRect">
            <a:avLst>
              <a:gd name="adj" fmla="val 8000"/>
            </a:avLst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363" y="3419856"/>
            <a:ext cx="1978075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4. 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363" y="3950208"/>
            <a:ext cx="1978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Inspect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Validation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0069" y="3840480"/>
            <a:ext cx="7731556" cy="1905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3241" y="3763137"/>
            <a:ext cx="173736" cy="173736"/>
          </a:xfrm>
          <a:prstGeom prst="ellipse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82112"/>
            <a:ext cx="35457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1">
                <a:solidFill>
                  <a:srgbClr val="3D52D5"/>
                </a:solidFill>
                <a:latin typeface="Pretendard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35457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macOS preflight</a:t>
            </a:r>
          </a:p>
        </p:txBody>
      </p:sp>
      <p:sp>
        <p:nvSpPr>
          <p:cNvPr id="10" name="Oval 9"/>
          <p:cNvSpPr/>
          <p:nvPr/>
        </p:nvSpPr>
        <p:spPr>
          <a:xfrm>
            <a:off x="6008979" y="3763137"/>
            <a:ext cx="173736" cy="173736"/>
          </a:xfrm>
          <a:prstGeom prst="ellipse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3182112"/>
            <a:ext cx="35457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1">
                <a:solidFill>
                  <a:srgbClr val="7B68C8"/>
                </a:solidFill>
                <a:latin typeface="Pretendard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4114800"/>
            <a:ext cx="35457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Windows generation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54717" y="3763137"/>
            <a:ext cx="173736" cy="173736"/>
          </a:xfrm>
          <a:prstGeom prst="ellipse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8716" y="3182112"/>
            <a:ext cx="35457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1">
                <a:solidFill>
                  <a:srgbClr val="7B68C8"/>
                </a:solidFill>
                <a:latin typeface="Pretendard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8716" y="4114800"/>
            <a:ext cx="35457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Windows render parity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Issue Volume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057400"/>
          <a:ext cx="10637215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Builder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057400"/>
          <a:ext cx="10637215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Deck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85566" y="2057400"/>
          <a:ext cx="7020561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Package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Skill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2121408"/>
            <a:ext cx="6156655" cy="201168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2121408"/>
            <a:ext cx="6156655" cy="201168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34295" y="20574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3D52D5"/>
                </a:solidFill>
                <a:latin typeface="Pretendard"/>
              </a:rP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990088"/>
            <a:ext cx="6156655" cy="201168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2990088"/>
            <a:ext cx="6156655" cy="201168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34295" y="292608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3D52D5"/>
                </a:solidFill>
                <a:latin typeface="Pretendard"/>
              </a:rP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C1E"/>
                </a:solidFill>
                <a:latin typeface="Pretendard"/>
              </a:rPr>
              <a:t>Windows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858768"/>
            <a:ext cx="6156655" cy="201168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3858768"/>
            <a:ext cx="2154829" cy="201168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34295" y="379476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3D52D5"/>
                </a:solidFill>
                <a:latin typeface="Pretendard"/>
              </a:rPr>
              <a:t>beta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Builder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9037015" cy="3364992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95947" y="2057400"/>
            <a:ext cx="9525" cy="3364992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3739896"/>
            <a:ext cx="90370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5550408"/>
            <a:ext cx="9037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02736"/>
            <a:ext cx="1472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Evidence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185416"/>
            <a:ext cx="41893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6E6E73"/>
                </a:solidFill>
                <a:latin typeface="Pretendard"/>
              </a:rPr>
              <a:t>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0539" y="2185416"/>
            <a:ext cx="41893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6E6E73"/>
                </a:solidFill>
                <a:latin typeface="Pretendard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867912"/>
            <a:ext cx="41893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6E6E73"/>
                </a:solidFill>
                <a:latin typeface="Pretendard"/>
              </a:rPr>
              <a:t>lightweight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0539" y="3867912"/>
            <a:ext cx="41893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6E6E73"/>
                </a:solidFill>
                <a:latin typeface="Pretendard"/>
              </a:rPr>
              <a:t>dense</a:t>
            </a:r>
          </a:p>
        </p:txBody>
      </p:sp>
      <p:sp>
        <p:nvSpPr>
          <p:cNvPr id="15" name="Oval 14"/>
          <p:cNvSpPr/>
          <p:nvPr/>
        </p:nvSpPr>
        <p:spPr>
          <a:xfrm>
            <a:off x="4111691" y="4507992"/>
            <a:ext cx="146304" cy="146304"/>
          </a:xfrm>
          <a:prstGeom prst="ellipse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0443" y="4709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statement</a:t>
            </a:r>
          </a:p>
        </p:txBody>
      </p:sp>
      <p:sp>
        <p:nvSpPr>
          <p:cNvPr id="17" name="Oval 16"/>
          <p:cNvSpPr/>
          <p:nvPr/>
        </p:nvSpPr>
        <p:spPr>
          <a:xfrm>
            <a:off x="6370944" y="3498494"/>
            <a:ext cx="146304" cy="146304"/>
          </a:xfrm>
          <a:prstGeom prst="ellipse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9696" y="369966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cards</a:t>
            </a:r>
          </a:p>
        </p:txBody>
      </p:sp>
      <p:sp>
        <p:nvSpPr>
          <p:cNvPr id="19" name="Oval 18"/>
          <p:cNvSpPr/>
          <p:nvPr/>
        </p:nvSpPr>
        <p:spPr>
          <a:xfrm>
            <a:off x="9687208" y="2629814"/>
            <a:ext cx="201168" cy="201168"/>
          </a:xfrm>
          <a:prstGeom prst="ellipse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3392" y="288584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C1C1E"/>
                </a:solidFill>
                <a:latin typeface="Pretendard"/>
              </a:rPr>
              <a:t>gate</a:t>
            </a:r>
          </a:p>
        </p:txBody>
      </p:sp>
      <p:sp>
        <p:nvSpPr>
          <p:cNvPr id="21" name="Oval 20"/>
          <p:cNvSpPr/>
          <p:nvPr/>
        </p:nvSpPr>
        <p:spPr>
          <a:xfrm>
            <a:off x="8630198" y="3834993"/>
            <a:ext cx="146304" cy="146304"/>
          </a:xfrm>
          <a:prstGeom prst="ellipse">
            <a:avLst/>
          </a:prstGeom>
          <a:solidFill>
            <a:srgbClr val="7B6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8950" y="403616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7463561" y="1965960"/>
            <a:ext cx="2720340" cy="356616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7793" y="1965960"/>
            <a:ext cx="2720340" cy="356616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Screenshot Fixtures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14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233" y="2057400"/>
            <a:ext cx="25374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99233" y="5641848"/>
            <a:ext cx="25374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Dashboard</a:t>
            </a:r>
          </a:p>
        </p:txBody>
      </p:sp>
      <p:pic>
        <p:nvPicPr>
          <p:cNvPr id="9" name="Picture 8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001" y="2057400"/>
            <a:ext cx="253746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5001" y="5641848"/>
            <a:ext cx="25374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Detail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Packaging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1938" y="2057400"/>
            <a:ext cx="4224098" cy="37490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0356" y="2057400"/>
            <a:ext cx="4224098" cy="3749040"/>
          </a:xfrm>
          <a:prstGeom prst="rect">
            <a:avLst/>
          </a:prstGeom>
          <a:solidFill>
            <a:srgbClr val="EF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90356" y="2057400"/>
            <a:ext cx="4224098" cy="50292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1394" y="2276856"/>
            <a:ext cx="3785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6E6E73"/>
                </a:solidFill>
                <a:latin typeface="Pretendard"/>
              </a:rPr>
              <a:t>Duplicated OS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9812" y="2276856"/>
            <a:ext cx="3785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41A5C"/>
                </a:solidFill>
                <a:latin typeface="Pretendard"/>
              </a:rPr>
              <a:t>One installable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9504"/>
            <a:ext cx="175010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1">
                <a:solidFill>
                  <a:srgbClr val="6E6E73"/>
                </a:solidFill>
                <a:latin typeface="Pretendard"/>
              </a:rPr>
              <a:t>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1394" y="28895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Two divergent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9812" y="28895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One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0104"/>
            <a:ext cx="175010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1">
                <a:solidFill>
                  <a:srgbClr val="6E6E73"/>
                </a:solidFill>
                <a:latin typeface="Pretendard"/>
              </a:rPr>
              <a:t>Support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394" y="38801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Easier to overstate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9812" y="38801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Beta clearly labelled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70704"/>
            <a:ext cx="175010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1">
                <a:solidFill>
                  <a:srgbClr val="6E6E73"/>
                </a:solidFill>
                <a:latin typeface="Pretendard"/>
              </a:rPr>
              <a:t>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1394" y="48707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Different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9812" y="4870704"/>
            <a:ext cx="3785186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1C1E"/>
                </a:solidFill>
                <a:latin typeface="Pretendard"/>
              </a:rPr>
              <a:t>Same deck/ payload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05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CED5F8"/>
                </a:solidFill>
                <a:latin typeface="Pretendard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1741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1C1C1E"/>
                </a:solidFill>
                <a:latin typeface="Pretendard"/>
              </a:rPr>
              <a:t>The deck should make the decision visible before it looks pretty.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023360"/>
            <a:ext cx="548640" cy="1905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187952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3D52D5"/>
                </a:solidFill>
                <a:latin typeface="Pretendard"/>
              </a:rPr>
              <a:t>So-Yul workflow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55371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Design principle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659507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0" b="1">
                <a:solidFill>
                  <a:srgbClr val="141A5C"/>
                </a:solidFill>
                <a:latin typeface="Pretendard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794760"/>
            <a:ext cx="822960" cy="45720"/>
          </a:xfrm>
          <a:prstGeom prst="rect">
            <a:avLst/>
          </a:prstGeom>
          <a:solidFill>
            <a:srgbClr val="3D5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65950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Representative page types in one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8073" y="2194560"/>
            <a:ext cx="367638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Generated from the public builder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8073" y="2907792"/>
            <a:ext cx="367638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PPTX, PDF, and contact sheet included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52144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C1C1E"/>
                </a:solidFill>
                <a:latin typeface="Pretendard"/>
              </a:rPr>
              <a:t>Publish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016752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deck skill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144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1">
                <a:solidFill>
                  <a:srgbClr val="3D52D5"/>
                </a:solidFill>
                <a:latin typeface="Pretendard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2E9E5B"/>
                </a:solidFill>
                <a:latin typeface="Pretendard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446763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README states install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093976"/>
            <a:ext cx="531860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Clone plus symlink/copy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2E9E5B"/>
                </a:solidFill>
                <a:latin typeface="Pretendard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43784"/>
            <a:ext cx="446763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Windows claim scoped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880360"/>
            <a:ext cx="531860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Beta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2E9E5B"/>
                </a:solidFill>
                <a:latin typeface="Pretendard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30168"/>
            <a:ext cx="446763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macOS render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666744"/>
            <a:ext cx="531860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PPTX and embedded-font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B87A1E"/>
                </a:solidFill>
                <a:latin typeface="Pretendard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416552"/>
            <a:ext cx="446763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Windows target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453128"/>
            <a:ext cx="531860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E6E73"/>
                </a:solidFill>
                <a:latin typeface="Pretendard"/>
              </a:rPr>
              <a:t>Run on a physical Windows host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49240"/>
            <a:ext cx="10637215" cy="9525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77256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E6E73"/>
                </a:solidFill>
                <a:latin typeface="Pretendard"/>
              </a:rPr>
              <a:t>3 / 4 통과 · 전 항목이 통과해야 게이트가 열린다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